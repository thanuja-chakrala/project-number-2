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demand index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Price +0%</c:v>
                </c:pt>
                <c:pt idx="1">
                  <c:v>Price +5%</c:v>
                </c:pt>
                <c:pt idx="2">
                  <c:v>Price +10%</c:v>
                </c:pt>
                <c:pt idx="3">
                  <c:v>Price +15%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94</c:v>
                </c:pt>
                <c:pt idx="2">
                  <c:v>88</c:v>
                </c:pt>
                <c:pt idx="3">
                  <c:v>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314-4AA4-8B3E-AA47DD0316B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5"/>
          <c:min val="7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791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1197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731520" y="868680"/>
            <a:ext cx="566928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EEB5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INDIA’S ELECTRIC 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216153"/>
            <a:ext cx="612648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F8FAFC"/>
                </a:solidFill>
                <a:latin typeface="Aptos"/>
              </a:defRPr>
            </a:pPr>
            <a:r>
              <a:rPr sz="4400" dirty="0">
                <a:solidFill>
                  <a:schemeClr val="bg1"/>
                </a:solidFill>
              </a:rPr>
              <a:t>EV Market</a:t>
            </a:r>
          </a:p>
          <a:p>
            <a:pPr>
              <a:spcAft>
                <a:spcPts val="500"/>
              </a:spcAft>
              <a:defRPr sz="3600" b="0">
                <a:solidFill>
                  <a:srgbClr val="F8FAFC"/>
                </a:solidFill>
                <a:latin typeface="Aptos"/>
              </a:defRPr>
            </a:pPr>
            <a:r>
              <a:rPr sz="4400" dirty="0">
                <a:solidFill>
                  <a:schemeClr val="bg1"/>
                </a:solidFill>
              </a:rPr>
              <a:t>Entry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63240"/>
            <a:ext cx="5212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00BEB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Tata</a:t>
            </a:r>
            <a:r>
              <a:rPr dirty="0"/>
              <a:t> </a:t>
            </a:r>
            <a:r>
              <a:rPr dirty="0">
                <a:solidFill>
                  <a:schemeClr val="bg1"/>
                </a:solidFill>
              </a:rPr>
              <a:t>Motors</a:t>
            </a:r>
            <a:r>
              <a:rPr dirty="0"/>
              <a:t> • </a:t>
            </a:r>
            <a:r>
              <a:rPr dirty="0">
                <a:solidFill>
                  <a:schemeClr val="bg1"/>
                </a:solidFill>
              </a:rPr>
              <a:t>Ola</a:t>
            </a:r>
            <a:r>
              <a:rPr dirty="0"/>
              <a:t> </a:t>
            </a:r>
            <a:r>
              <a:rPr dirty="0">
                <a:solidFill>
                  <a:schemeClr val="bg1"/>
                </a:solidFill>
              </a:rPr>
              <a:t>Electric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75887"/>
            <a:ext cx="571500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B9C6D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Price elasticity • consumer adoption • scale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15000"/>
            <a:ext cx="640080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Economics (CO1)  |  Business Environment (CO2)  |  Python (CO3)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26480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9C6DA"/>
                </a:solidFill>
                <a:latin typeface="Aptos"/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6858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BEB4"/>
                </a:solidFill>
                <a:latin typeface="Aptos"/>
              </a:defRPr>
            </a:pPr>
            <a:r>
              <a:t>01 •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Why India’s EV market is a strategy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6012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822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9C6DA"/>
                </a:solidFill>
                <a:latin typeface="Aptos"/>
              </a:defRPr>
            </a:pPr>
            <a:r>
              <a:t>02  /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82880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8288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BEB4"/>
                </a:solidFill>
                <a:latin typeface="Aptos"/>
              </a:defRPr>
            </a:pPr>
            <a:r>
              <a:t>THE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12848"/>
            <a:ext cx="315468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8FAFC"/>
                </a:solidFill>
                <a:latin typeface="Aptos"/>
              </a:defRPr>
            </a:pPr>
            <a:r>
              <a:t>Electric mobility can reduce running costs and local tailpipe emissions—but buyers still weigh upfront price, charging access and reliability.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82880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828800"/>
          </a:xfrm>
          <a:prstGeom prst="rect">
            <a:avLst/>
          </a:prstGeom>
          <a:solidFill>
            <a:srgbClr val="FF7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7166"/>
                </a:solidFill>
                <a:latin typeface="Aptos"/>
              </a:defRPr>
            </a:pPr>
            <a:r>
              <a:t>WHY THIS PROJECT?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12848"/>
            <a:ext cx="315468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8FAFC"/>
                </a:solidFill>
                <a:latin typeface="Aptos"/>
              </a:defRPr>
            </a:pPr>
            <a:r>
              <a:t>Subsidy changes can alter affordability quickly. Firms must predict how sensitive demand is before changing prices or production.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520440" cy="182880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828800"/>
          </a:xfrm>
          <a:prstGeom prst="rect">
            <a:avLst/>
          </a:prstGeom>
          <a:solidFill>
            <a:srgbClr val="BE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81051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EB5A"/>
                </a:solidFill>
                <a:latin typeface="Aptos"/>
              </a:defRPr>
            </a:pPr>
            <a:r>
              <a:t>CORE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12848"/>
            <a:ext cx="315468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8FAFC"/>
                </a:solidFill>
                <a:latin typeface="Aptos"/>
              </a:defRPr>
            </a:pPr>
            <a:r>
              <a:t>How should Tata and Ola balance price, trust, capacity and scale as India’s EV market evolves?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39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CD56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07408"/>
            <a:ext cx="5669280" cy="1869230"/>
          </a:xfrm>
          <a:prstGeom prst="rect">
            <a:avLst/>
          </a:prstGeom>
          <a:noFill/>
        </p:spPr>
        <p:txBody>
          <a:bodyPr wrap="square" lIns="73152" tIns="54864" rIns="54864" b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rPr sz="2000" dirty="0">
                <a:solidFill>
                  <a:srgbClr val="002060"/>
                </a:solidFill>
              </a:rPr>
              <a:t>• Translate policy changes into likely market outcomes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rPr sz="2000" dirty="0">
                <a:solidFill>
                  <a:srgbClr val="002060"/>
                </a:solidFill>
              </a:rPr>
              <a:t>• Explain adoption barriers such as range anxiety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rPr sz="2000" dirty="0">
                <a:solidFill>
                  <a:srgbClr val="002060"/>
                </a:solidFill>
              </a:rPr>
              <a:t>• Connect customer demand to manufacturing decisions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886200"/>
            <a:ext cx="4343400" cy="1920240"/>
          </a:xfrm>
          <a:prstGeom prst="roundRect">
            <a:avLst/>
          </a:prstGeom>
          <a:solidFill>
            <a:srgbClr val="1B3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0" y="4096512"/>
            <a:ext cx="3383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0BEB4"/>
                </a:solidFill>
                <a:latin typeface="Aptos"/>
              </a:defRPr>
            </a:pPr>
            <a:r>
              <a:t>THE STRATEGY 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572000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8FAFC"/>
                </a:solidFill>
                <a:latin typeface="Aptos"/>
              </a:defRPr>
            </a:pPr>
            <a:r>
              <a:t>Policy → Price → Adoption →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166360"/>
            <a:ext cx="3383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9C6DA"/>
                </a:solidFill>
                <a:latin typeface="Aptos"/>
              </a:defRPr>
            </a:pPr>
            <a:r>
              <a:t>One decision changes the next.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B9C6DA"/>
                </a:solidFill>
                <a:latin typeface="Aptos"/>
              </a:defRPr>
            </a:pPr>
            <a:r>
              <a:t>EV MARKET ENTRY STRATEGY  •  INDIA  •  TATA / OLA ELECTRIC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1070" y="347472"/>
            <a:ext cx="6858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BEB4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02 • STUDY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951" y="658368"/>
            <a:ext cx="11177769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Objectives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6012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822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9C6DA"/>
                </a:solidFill>
                <a:latin typeface="Aptos"/>
              </a:defRPr>
            </a:pPr>
            <a:r>
              <a:t>03  /  08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627632"/>
            <a:ext cx="475488" cy="475488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737360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0E1C3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618488"/>
            <a:ext cx="27432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Estimate response to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687737"/>
            <a:ext cx="6995160" cy="7078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9C6DA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</a:rPr>
              <a:t>Use elasticity logic to test how subsidy changes may affect demand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542032"/>
            <a:ext cx="475488" cy="475488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651760"/>
            <a:ext cx="411480" cy="24622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0E1C36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532888"/>
            <a:ext cx="27432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Understand adoption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532888"/>
            <a:ext cx="6995160" cy="7078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9C6DA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</a:rPr>
              <a:t>Assess total ownership cost, charging access, trust and range anxiety</a:t>
            </a:r>
            <a:r>
              <a:rPr sz="2000" dirty="0"/>
              <a:t>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456432"/>
            <a:ext cx="475488" cy="475488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566160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0E1C3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447288"/>
            <a:ext cx="27432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Evaluate competition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447288"/>
            <a:ext cx="699516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9C6DA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</a:rPr>
              <a:t>Apply Porter’s Five Forces to India’s EV ecosystem</a:t>
            </a:r>
            <a:r>
              <a:rPr dirty="0"/>
              <a:t>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370832"/>
            <a:ext cx="475488" cy="475488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4480560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0E1C3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361688"/>
            <a:ext cx="27432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Link demand to capacity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361688"/>
            <a:ext cx="6995160" cy="7078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9C6DA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</a:rPr>
              <a:t>Explain when scale lowers average cost—and when excess capacity hurts</a:t>
            </a:r>
            <a:r>
              <a:rPr dirty="0"/>
              <a:t>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5285232"/>
            <a:ext cx="475488" cy="475488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5394960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0E1C36"/>
                </a:solidFill>
                <a:latin typeface="Aptos"/>
              </a:defRPr>
            </a:pPr>
            <a:r>
              <a:rPr dirty="0"/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5276088"/>
            <a:ext cx="27432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Build a decision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5276088"/>
            <a:ext cx="699516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9C6DA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</a:rPr>
              <a:t>Use Python charts to communicate assumptions and scenarios</a:t>
            </a:r>
            <a:r>
              <a:rPr dirty="0"/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B9C6DA"/>
                </a:solidFill>
                <a:latin typeface="Aptos"/>
              </a:defRPr>
            </a:pPr>
            <a:r>
              <a:t>EV MARKET ENTRY STRATEGY  •  INDIA  •  TATA / OLA ELECTRIC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6858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BEB4"/>
                </a:solidFill>
                <a:latin typeface="Aptos"/>
              </a:defRPr>
            </a:pPr>
            <a:r>
              <a:t>03 • SUBJECT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Economics (CO1): subsidy, price &amp; elasticity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6012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822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9C6DA"/>
                </a:solidFill>
                <a:latin typeface="Aptos"/>
              </a:defRPr>
            </a:pPr>
            <a:r>
              <a:t>04  /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794760" cy="141732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141732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3429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BEB4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67128"/>
            <a:ext cx="342900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8FAFC"/>
                </a:solidFill>
                <a:latin typeface="Aptos"/>
              </a:defRPr>
            </a:pPr>
            <a:r>
              <a:t>Price elasticity = % change in quantity demanded ÷ % change in price.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82112"/>
            <a:ext cx="3794760" cy="141732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182112"/>
            <a:ext cx="64008" cy="1417320"/>
          </a:xfrm>
          <a:prstGeom prst="rect">
            <a:avLst/>
          </a:prstGeom>
          <a:solidFill>
            <a:srgbClr val="FF7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3346704"/>
            <a:ext cx="3429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7166"/>
                </a:solidFill>
                <a:latin typeface="Aptos"/>
              </a:defRPr>
            </a:pPr>
            <a:r>
              <a:t>POLICY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749039"/>
            <a:ext cx="342900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8FAFC"/>
                </a:solidFill>
                <a:latin typeface="Aptos"/>
              </a:defRPr>
            </a:pPr>
            <a:r>
              <a:t>A subsidy lowers the effective purchase cost. If support falls, the buyer price can rise and demand may soften.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54880"/>
            <a:ext cx="3794760" cy="114300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4754880"/>
            <a:ext cx="64008" cy="1143000"/>
          </a:xfrm>
          <a:prstGeom prst="rect">
            <a:avLst/>
          </a:prstGeom>
          <a:solidFill>
            <a:srgbClr val="BE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4919472"/>
            <a:ext cx="3429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EB5A"/>
                </a:solidFill>
                <a:latin typeface="Aptos"/>
              </a:defRPr>
            </a:pPr>
            <a:r>
              <a:t>WHY ECONOMICS?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5321808"/>
            <a:ext cx="342900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8FAFC"/>
                </a:solidFill>
                <a:latin typeface="Aptos"/>
              </a:defRPr>
            </a:pPr>
            <a:r>
              <a:t>It turns a policy change into a testable demand scenario.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664208"/>
            <a:ext cx="6126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Illustrative demand response to a price rise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702386"/>
              </p:ext>
            </p:extLst>
          </p:nvPr>
        </p:nvGraphicFramePr>
        <p:xfrm>
          <a:off x="4800600" y="2148840"/>
          <a:ext cx="65836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846320" y="5486400"/>
            <a:ext cx="6766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9C6DA"/>
                </a:solidFill>
                <a:latin typeface="Aptos"/>
              </a:defRPr>
            </a:pPr>
            <a:r>
              <a:t>Scenario only—not measured Tata/Ola sales data. Actual elasticity varies by vehicle, income, financing and state policy.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B9C6DA"/>
                </a:solidFill>
                <a:latin typeface="Aptos"/>
              </a:defRPr>
            </a:pPr>
            <a:r>
              <a:t>EV MARKET ENTRY STRATEGY  •  INDIA  •  TATA / OLA ELECTRIC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6858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BEB4"/>
                </a:solidFill>
                <a:latin typeface="Aptos"/>
              </a:defRPr>
            </a:pPr>
            <a:r>
              <a:t>03 • SUBJECT 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3708" y="658368"/>
            <a:ext cx="10962012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Business Environment (CO2): adoption &amp; competitive pressure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6012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822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9C6DA"/>
                </a:solidFill>
                <a:latin typeface="Aptos"/>
              </a:defRPr>
            </a:pPr>
            <a:r>
              <a:t>05  /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29000" cy="182880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828800"/>
          </a:xfrm>
          <a:prstGeom prst="rect">
            <a:avLst/>
          </a:prstGeom>
          <a:solidFill>
            <a:srgbClr val="FF7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7166"/>
                </a:solidFill>
                <a:latin typeface="Aptos"/>
              </a:defRPr>
            </a:pPr>
            <a:r>
              <a:t>RANGE ANXIETY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12848"/>
            <a:ext cx="306324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8FAFC"/>
                </a:solidFill>
                <a:latin typeface="Aptos"/>
              </a:defRPr>
            </a:pPr>
            <a:r>
              <a:t>Buyers worry about reaching a charger, charging time and battery reliability—not just the advertised range.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45920"/>
            <a:ext cx="3429000" cy="182880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645920"/>
            <a:ext cx="64008" cy="18288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10512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BEB4"/>
                </a:solidFill>
                <a:latin typeface="Aptos"/>
              </a:defRPr>
            </a:pPr>
            <a:r>
              <a:t>ADOPTION LEVERS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12848"/>
            <a:ext cx="306324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8FAFC"/>
                </a:solidFill>
                <a:latin typeface="Aptos"/>
              </a:defRPr>
            </a:pPr>
            <a:r>
              <a:t>Transparent real-world range, dense charging, service quality, battery warranty and lower total ownership 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182880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645920"/>
            <a:ext cx="64008" cy="1828800"/>
          </a:xfrm>
          <a:prstGeom prst="rect">
            <a:avLst/>
          </a:prstGeom>
          <a:solidFill>
            <a:srgbClr val="BE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810512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EB5A"/>
                </a:solidFill>
                <a:latin typeface="Aptos"/>
              </a:defRPr>
            </a:pPr>
            <a:r>
              <a:t>PORTER’S FIVE FORCES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12848"/>
            <a:ext cx="306324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8FAFC"/>
                </a:solidFill>
                <a:latin typeface="Aptos"/>
              </a:defRPr>
            </a:pPr>
            <a:r>
              <a:t>Rivalry &amp; substitutes are strong; battery suppliers and policy shape costs; buyers compare price, range and trust.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39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CD56"/>
                </a:solidFill>
                <a:latin typeface="Aptos"/>
              </a:defRPr>
            </a:pPr>
            <a:r>
              <a:t>Five Forces snapshot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60" y="4480560"/>
            <a:ext cx="16154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Rivalry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498848"/>
            <a:ext cx="2834640" cy="164592"/>
          </a:xfrm>
          <a:prstGeom prst="roundRect">
            <a:avLst/>
          </a:prstGeom>
          <a:solidFill>
            <a:srgbClr val="2D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743200" y="4498848"/>
            <a:ext cx="2468880" cy="164592"/>
          </a:xfrm>
          <a:prstGeom prst="roundRect">
            <a:avLst/>
          </a:prstGeom>
          <a:solidFill>
            <a:srgbClr val="FF7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4471416"/>
            <a:ext cx="15544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9C6D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00600"/>
            <a:ext cx="164592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Buyer power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818888"/>
            <a:ext cx="2834640" cy="164592"/>
          </a:xfrm>
          <a:prstGeom prst="roundRect">
            <a:avLst/>
          </a:prstGeom>
          <a:solidFill>
            <a:srgbClr val="2D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743200" y="4818888"/>
            <a:ext cx="2057400" cy="164592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720" y="4791456"/>
            <a:ext cx="15544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9C6D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Medium–high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20640"/>
            <a:ext cx="164592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Supplier power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5138928"/>
            <a:ext cx="2834640" cy="164592"/>
          </a:xfrm>
          <a:prstGeom prst="roundRect">
            <a:avLst/>
          </a:prstGeom>
          <a:solidFill>
            <a:srgbClr val="2D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743200" y="5138928"/>
            <a:ext cx="2057400" cy="164592"/>
          </a:xfrm>
          <a:prstGeom prst="roundRect">
            <a:avLst/>
          </a:prstGeom>
          <a:solidFill>
            <a:srgbClr val="A3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80498" y="5102462"/>
            <a:ext cx="15544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9C6D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Medium–high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440680"/>
            <a:ext cx="164592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Substitutes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5458968"/>
            <a:ext cx="2834640" cy="164592"/>
          </a:xfrm>
          <a:prstGeom prst="roundRect">
            <a:avLst/>
          </a:prstGeom>
          <a:solidFill>
            <a:srgbClr val="2D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743200" y="5458968"/>
            <a:ext cx="2468880" cy="164592"/>
          </a:xfrm>
          <a:prstGeom prst="roundRect">
            <a:avLst/>
          </a:prstGeom>
          <a:solidFill>
            <a:srgbClr val="48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60720" y="5431536"/>
            <a:ext cx="15544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9C6D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760720"/>
            <a:ext cx="164592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New entrants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5779008"/>
            <a:ext cx="2834640" cy="164592"/>
          </a:xfrm>
          <a:prstGeom prst="roundRect">
            <a:avLst/>
          </a:prstGeom>
          <a:solidFill>
            <a:srgbClr val="2D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743200" y="5779008"/>
            <a:ext cx="1508760" cy="164592"/>
          </a:xfrm>
          <a:prstGeom prst="roundRect">
            <a:avLst/>
          </a:prstGeom>
          <a:solidFill>
            <a:srgbClr val="BE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0" y="5751576"/>
            <a:ext cx="15544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9C6D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Medium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43800" y="4069080"/>
            <a:ext cx="3749039" cy="1600200"/>
          </a:xfrm>
          <a:prstGeom prst="roundRect">
            <a:avLst/>
          </a:prstGeom>
          <a:solidFill>
            <a:srgbClr val="1B3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18120" y="4315968"/>
            <a:ext cx="2834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BEB4"/>
                </a:solidFill>
                <a:latin typeface="Aptos"/>
              </a:defRPr>
            </a:pPr>
            <a:r>
              <a:t>Strategic implication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4754880"/>
            <a:ext cx="29260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Compete on confidence + ownership cost, not headline range alone.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B9C6DA"/>
                </a:solidFill>
                <a:latin typeface="Aptos"/>
              </a:defRPr>
            </a:pPr>
            <a:r>
              <a:t>EV MARKET ENTRY STRATEGY  •  INDIA  •  TATA / OLA ELECTRIC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6858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BEB4"/>
                </a:solidFill>
                <a:latin typeface="Aptos"/>
              </a:defRPr>
            </a:pPr>
            <a:r>
              <a:t>03 • SUBJECT 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Manufacturing scale: when bigger becomes cheaper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6012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822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9C6DA"/>
                </a:solidFill>
                <a:latin typeface="Aptos"/>
              </a:defRPr>
            </a:pPr>
            <a:r>
              <a:t>06  /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291840" cy="160020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6002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BEB4"/>
                </a:solidFill>
                <a:latin typeface="Aptos"/>
              </a:defRPr>
            </a:pPr>
            <a:r>
              <a:t>ECONOMIES OF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12848"/>
            <a:ext cx="2926080" cy="941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8FAFC"/>
                </a:solidFill>
                <a:latin typeface="Aptos"/>
              </a:defRPr>
            </a:pPr>
            <a:r>
              <a:t>Higher output spreads fixed costs—factory, tooling, software and supplier setup—over more vehicles.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29000"/>
            <a:ext cx="3291840" cy="160020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429000"/>
            <a:ext cx="64008" cy="1600200"/>
          </a:xfrm>
          <a:prstGeom prst="rect">
            <a:avLst/>
          </a:prstGeom>
          <a:solidFill>
            <a:srgbClr val="FF7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3593592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7166"/>
                </a:solidFill>
                <a:latin typeface="Aptos"/>
              </a:defRPr>
            </a:pPr>
            <a:r>
              <a:t>CAPACITY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995928"/>
            <a:ext cx="2926080" cy="941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8FAFC"/>
                </a:solidFill>
                <a:latin typeface="Aptos"/>
              </a:defRPr>
            </a:pPr>
            <a:r>
              <a:t>If demand disappoints, idle plants and inventory raise cost per vehicle and tie up cash.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3291840" cy="82296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5212080"/>
            <a:ext cx="64008" cy="822960"/>
          </a:xfrm>
          <a:prstGeom prst="rect">
            <a:avLst/>
          </a:prstGeom>
          <a:solidFill>
            <a:srgbClr val="BE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5376672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EB5A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5779008"/>
            <a:ext cx="29260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8FAFC"/>
                </a:solidFill>
                <a:latin typeface="Aptos"/>
              </a:defRPr>
            </a:pPr>
            <a:r>
              <a:t>Expand in stages; use demand scenarios.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664208"/>
            <a:ext cx="53035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Conceptual average cost curve</a:t>
            </a:r>
          </a:p>
        </p:txBody>
      </p:sp>
      <p:cxnSp>
        <p:nvCxnSpPr>
          <p:cNvPr id="19" name="Connector 18"/>
          <p:cNvCxnSpPr>
            <a:cxnSpLocks/>
          </p:cNvCxnSpPr>
          <p:nvPr/>
        </p:nvCxnSpPr>
        <p:spPr>
          <a:xfrm>
            <a:off x="4617721" y="5166360"/>
            <a:ext cx="6375627" cy="1181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663440" y="2240280"/>
            <a:ext cx="0" cy="292608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983480" y="2697480"/>
            <a:ext cx="457200" cy="4572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40680" y="3154680"/>
            <a:ext cx="502920" cy="54864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43600" y="3703320"/>
            <a:ext cx="640080" cy="4572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0" y="4160520"/>
            <a:ext cx="731520" cy="2468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</p:cNvCxnSpPr>
          <p:nvPr/>
        </p:nvCxnSpPr>
        <p:spPr>
          <a:xfrm>
            <a:off x="7315200" y="4427032"/>
            <a:ext cx="914400" cy="9924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29600" y="4526280"/>
            <a:ext cx="914400" cy="9144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44000" y="4617720"/>
            <a:ext cx="1097280" cy="21031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69080" y="2011680"/>
            <a:ext cx="640080" cy="4642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9C6D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Average</a:t>
            </a:r>
          </a:p>
          <a:p>
            <a:pPr>
              <a:spcAft>
                <a:spcPts val="500"/>
              </a:spcAft>
              <a:defRPr sz="1000" b="0">
                <a:solidFill>
                  <a:srgbClr val="B9C6D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5285232"/>
            <a:ext cx="27432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9C6D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Output / </a:t>
            </a:r>
            <a:r>
              <a:rPr dirty="0" err="1">
                <a:solidFill>
                  <a:schemeClr val="bg1"/>
                </a:solidFill>
              </a:rPr>
              <a:t>utilisation</a:t>
            </a:r>
            <a:r>
              <a:rPr dirty="0">
                <a:solidFill>
                  <a:schemeClr val="bg1"/>
                </a:solidFill>
              </a:rPr>
              <a:t>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246120"/>
            <a:ext cx="201168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BEEB5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Lower unit costs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3931920"/>
            <a:ext cx="182880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7166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Overcapacity risk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52360" y="5577840"/>
            <a:ext cx="3794760" cy="502920"/>
          </a:xfrm>
          <a:prstGeom prst="roundRect">
            <a:avLst/>
          </a:prstGeom>
          <a:solidFill>
            <a:srgbClr val="1B3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35240" y="5696712"/>
            <a:ext cx="34290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Python compares low / base / high demand.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B9C6DA"/>
                </a:solidFill>
                <a:latin typeface="Aptos"/>
              </a:defRPr>
            </a:pPr>
            <a:r>
              <a:t>EV MARKET ENTRY STRATEGY  •  INDIA  •  TATA / OLA ELECTRIC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49250"/>
            <a:ext cx="6858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BEB4"/>
                </a:solidFill>
                <a:latin typeface="Aptos"/>
              </a:defRPr>
            </a:pPr>
            <a:r>
              <a:t>04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From data to a market-entry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60120" cy="50292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822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B9C6DA"/>
                </a:solidFill>
                <a:latin typeface="Aptos"/>
              </a:defRPr>
            </a:pPr>
            <a:r>
              <a:t>07  /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66360" cy="114300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11430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BEB4"/>
                </a:solidFill>
                <a:latin typeface="Aptos"/>
              </a:defRPr>
            </a:pPr>
            <a:r>
              <a:t>1  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480060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8FAFC"/>
                </a:solidFill>
                <a:latin typeface="Aptos"/>
              </a:defRPr>
            </a:pPr>
            <a:r>
              <a:t>Official EV registrations, policy/subsidy rules, company disclosures, prices, charging data and credible industry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166360" cy="114300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64008" cy="1143000"/>
          </a:xfrm>
          <a:prstGeom prst="rect">
            <a:avLst/>
          </a:prstGeom>
          <a:solidFill>
            <a:srgbClr val="FF7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1764792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7166"/>
                </a:solidFill>
                <a:latin typeface="Aptos"/>
              </a:defRPr>
            </a:pPr>
            <a:r>
              <a:t>2  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167128"/>
            <a:ext cx="480060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8FAFC"/>
                </a:solidFill>
                <a:latin typeface="Aptos"/>
              </a:defRPr>
            </a:pPr>
            <a:r>
              <a:t>Standardise dates, vehicle categories, units and locations; handle missing values and flag outliers.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5166360" cy="114300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64008" cy="1143000"/>
          </a:xfrm>
          <a:prstGeom prst="rect">
            <a:avLst/>
          </a:prstGeom>
          <a:solidFill>
            <a:srgbClr val="BEE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182112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EB5A"/>
                </a:solidFill>
                <a:latin typeface="Aptos"/>
              </a:defRPr>
            </a:pPr>
            <a:r>
              <a:t>3  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584448"/>
            <a:ext cx="480060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8FAFC"/>
                </a:solidFill>
                <a:latin typeface="Aptos"/>
              </a:defRPr>
            </a:pPr>
            <a:r>
              <a:t>Estimate price response where data permits; compare subsidy scenarios; code Porter’s Five Forces and capacity assumptions.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017520"/>
            <a:ext cx="5166360" cy="114300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3017520"/>
            <a:ext cx="64008" cy="1143000"/>
          </a:xfrm>
          <a:prstGeom prst="rect">
            <a:avLst/>
          </a:prstGeom>
          <a:solidFill>
            <a:srgbClr val="48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3182112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88DFF"/>
                </a:solidFill>
                <a:latin typeface="Aptos"/>
              </a:defRPr>
            </a:pPr>
            <a:r>
              <a:t>4  VISUALISE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584448"/>
            <a:ext cx="480060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8FAFC"/>
                </a:solidFill>
                <a:latin typeface="Aptos"/>
              </a:defRPr>
            </a:pPr>
            <a:r>
              <a:t>Use Python pandas + matplotlib for static charts and Plotly for interactive scenario dashboards.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4572000"/>
            <a:ext cx="5166360" cy="1143000"/>
          </a:xfrm>
          <a:prstGeom prst="round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520440" y="4572000"/>
            <a:ext cx="64008" cy="1143000"/>
          </a:xfrm>
          <a:prstGeom prst="rect">
            <a:avLst/>
          </a:prstGeom>
          <a:solidFill>
            <a:srgbClr val="A3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21608" y="4736592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A376FF"/>
                </a:solidFill>
                <a:latin typeface="Aptos"/>
              </a:defRPr>
            </a:pPr>
            <a:r>
              <a:t>5  CONCLUDE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21608" y="5138928"/>
            <a:ext cx="480060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8FAFC"/>
                </a:solidFill>
                <a:latin typeface="Aptos"/>
              </a:defRPr>
            </a:pPr>
            <a:r>
              <a:t>State assumptions, limits, findings and a staged recommendation; prepare the final report and slides.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89320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CD56"/>
                </a:solidFill>
                <a:latin typeface="Aptos"/>
              </a:defRPr>
            </a:pPr>
            <a:r>
              <a:t>Integrated recommendation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5943600"/>
            <a:ext cx="8046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rgbClr val="FFFF00"/>
                </a:solidFill>
              </a:rPr>
              <a:t>Price for value • reduce range anxiety • scale capacity in phases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B9C6DA"/>
                </a:solidFill>
                <a:latin typeface="Aptos"/>
              </a:defRPr>
            </a:pPr>
            <a:r>
              <a:t>EV MARKET ENTRY STRATEGY  •  INDIA  •  TATA / OLA ELECTRIC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22960" y="3657600"/>
            <a:ext cx="5669280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B9C6DA"/>
                </a:solidFill>
                <a:latin typeface="Aptos"/>
              </a:defRPr>
            </a:pPr>
            <a:r>
              <a:rPr dirty="0"/>
              <a:t>.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B6F5BA14-B677-48FC-93AA-52157E1D4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007" y="1232899"/>
            <a:ext cx="11212033" cy="3616503"/>
          </a:xfrm>
        </p:spPr>
        <p:txBody>
          <a:bodyPr>
            <a:norm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Rockwell Extra Bold" panose="02060903040505020403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753</Words>
  <Application>Microsoft Office PowerPoint</Application>
  <PresentationFormat>Widescreen</PresentationFormat>
  <Paragraphs>113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Rockwell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thanuja chakrala</cp:lastModifiedBy>
  <cp:revision>2</cp:revision>
  <dcterms:created xsi:type="dcterms:W3CDTF">2013-01-27T09:14:16Z</dcterms:created>
  <dcterms:modified xsi:type="dcterms:W3CDTF">2026-10-14T12:57:58Z</dcterms:modified>
  <cp:category/>
</cp:coreProperties>
</file>